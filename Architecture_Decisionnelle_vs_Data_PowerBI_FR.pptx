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décisionnelle vs architecture Data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782"/>
                </a:solidFill>
              </a:rPr>
              <a:t>Deux expertises complémentaires pour industrialiser un dashboard Power BI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8E"/>
                </a:solidFill>
              </a:rPr>
              <a:t>ARCHITECTURE POWER BI  |  MARKET RISK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8E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87F60"/>
                </a:solidFill>
              </a:rPr>
              <a:t>Du besoin métier à la donnée fiable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2907792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23E67"/>
                </a:solidFill>
              </a:rPr>
              <a:t>Cas d’usage : RiskPulse — P&amp;L, VaR, stress tests, Activity → Desk → Book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Deux architectures, deux questions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8E"/>
                </a:solidFill>
              </a:rPr>
              <a:t>ARCHITECTURE POWER BI  |  MARKET RISK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8E"/>
                </a:solidFill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EDF4F3"/>
          </a:solidFill>
          <a:ln w="8890">
            <a:solidFill>
              <a:srgbClr val="D5E3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68580" cy="3383280"/>
          </a:xfrm>
          <a:prstGeom prst="rect">
            <a:avLst/>
          </a:prstGeom>
          <a:solidFill>
            <a:srgbClr val="123E67"/>
          </a:solidFill>
          <a:ln w="12700">
            <a:solidFill>
              <a:srgbClr val="123E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27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E67"/>
                </a:solidFill>
              </a:rPr>
              <a:t>Architecture Data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498348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Comment collecter, fiabiliser, historiser et servir les données 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Sources, pipelines, qualité, stockage, sécurité.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EDF4F3"/>
          </a:solidFill>
          <a:ln w="8890">
            <a:solidFill>
              <a:srgbClr val="D5E3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463040"/>
            <a:ext cx="68580" cy="3383280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27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7F60"/>
                </a:solidFill>
              </a:rPr>
              <a:t>Architecture décisionnelle (BI)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057400"/>
            <a:ext cx="498348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Comment transformer les données en indicateurs exploitables 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Modèle sémantique, mesures DAX, rapports, navigation.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3035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E67"/>
                </a:solidFill>
              </a:rPr>
              <a:t>Une bonne expérience Power BI exige les deux — les rôles peuvent se recouvrir.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Chaîne de valeur : de la source à la décision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8E"/>
                </a:solidFill>
              </a:rPr>
              <a:t>ARCHITECTURE POWER BI  |  MARKET RISK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8E"/>
                </a:solidFill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2194560"/>
            <a:ext cx="1773936" cy="1325880"/>
          </a:xfrm>
          <a:prstGeom prst="roundRect">
            <a:avLst>
              <a:gd name="adj" fmla="val 5517"/>
            </a:avLst>
          </a:prstGeom>
          <a:solidFill>
            <a:srgbClr val="E8F0F8"/>
          </a:solidFill>
          <a:ln w="12700">
            <a:solidFill>
              <a:srgbClr val="123E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41448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Oracle / CSV / Excel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E67"/>
                </a:solidFill>
              </a:rPr>
              <a:t>Sources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76272" y="256032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23E67"/>
                </a:solidFill>
              </a:rPr>
              <a:t>→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359152" y="2194560"/>
            <a:ext cx="1773936" cy="1325880"/>
          </a:xfrm>
          <a:prstGeom prst="roundRect">
            <a:avLst>
              <a:gd name="adj" fmla="val 5517"/>
            </a:avLst>
          </a:prstGeom>
          <a:solidFill>
            <a:srgbClr val="E8F0F8"/>
          </a:solidFill>
          <a:ln w="12700">
            <a:solidFill>
              <a:srgbClr val="123E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2441448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Ingestion &amp; contrôles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96312" y="3108960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E67"/>
                </a:solidFill>
              </a:rPr>
              <a:t>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23944" y="256032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23E67"/>
                </a:solidFill>
              </a:rPr>
              <a:t>→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306824" y="2194560"/>
            <a:ext cx="1773936" cy="1325880"/>
          </a:xfrm>
          <a:prstGeom prst="roundRect">
            <a:avLst>
              <a:gd name="adj" fmla="val 5517"/>
            </a:avLst>
          </a:prstGeom>
          <a:solidFill>
            <a:srgbClr val="E8F0F8"/>
          </a:solidFill>
          <a:ln w="12700">
            <a:solidFill>
              <a:srgbClr val="123E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98264" y="2441448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Entrepôt / Lakehouse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43984" y="3108960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E67"/>
                </a:solidFill>
              </a:rPr>
              <a:t>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71616" y="256032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23E67"/>
                </a:solidFill>
              </a:rPr>
              <a:t>→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254496" y="2194560"/>
            <a:ext cx="1773936" cy="1325880"/>
          </a:xfrm>
          <a:prstGeom prst="roundRect">
            <a:avLst>
              <a:gd name="adj" fmla="val 5517"/>
            </a:avLst>
          </a:prstGeom>
          <a:solidFill>
            <a:srgbClr val="E4F4EE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2441448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Modèle en étoile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91656" y="3108960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7F60"/>
                </a:solidFill>
              </a:rPr>
              <a:t>BI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19288" y="256032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23E67"/>
                </a:solidFill>
              </a:rPr>
              <a:t>→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8202168" y="2194560"/>
            <a:ext cx="1773936" cy="1325880"/>
          </a:xfrm>
          <a:prstGeom prst="roundRect">
            <a:avLst>
              <a:gd name="adj" fmla="val 5517"/>
            </a:avLst>
          </a:prstGeom>
          <a:solidFill>
            <a:srgbClr val="E4F4EE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441448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Mesures DAX &amp; RLS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39328" y="3108960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7F60"/>
                </a:solidFill>
              </a:rPr>
              <a:t>BI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966960" y="256032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23E67"/>
                </a:solidFill>
              </a:rPr>
              <a:t>→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149840" y="2194560"/>
            <a:ext cx="1773936" cy="1325880"/>
          </a:xfrm>
          <a:prstGeom prst="roundRect">
            <a:avLst>
              <a:gd name="adj" fmla="val 5517"/>
            </a:avLst>
          </a:prstGeom>
          <a:solidFill>
            <a:srgbClr val="E4F4EE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2441448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Dashboard / alertes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287000" y="3108960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7F60"/>
                </a:solidFill>
              </a:rPr>
              <a:t>BI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3434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23E67"/>
                </a:solidFill>
              </a:rPr>
              <a:t>Contrats de données, traçabilité et contrôles qualité à chaque étape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Comparaison des responsabilités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8E"/>
                </a:solidFill>
              </a:rPr>
              <a:t>ARCHITECTURE POWER BI  |  MARKET RISK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8E"/>
                </a:solidFill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0972800" cy="4389120"/>
        </p:xfrm>
        <a:graphic>
          <a:graphicData uri="http://schemas.openxmlformats.org/drawingml/2006/table">
            <a:tbl>
              <a:tblPr/>
              <a:tblGrid>
                <a:gridCol w="3200400"/>
                <a:gridCol w="3886200"/>
                <a:gridCol w="38862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Sujet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Architecte Data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Architecte décisionnel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Sources &amp; ingestion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Responsable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Consulté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Qualité / lineage / historisation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Responsable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Définit les attentes métier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Modèle physique / stockage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Responsable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Contributeur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Modèle sémantique Power BI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Contributeur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Responsable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DAX / KPI / UX / drilldown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Support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Responsable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Sécurité &amp; performances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Plateforme et données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40"/>
                          </a:solidFill>
                        </a:rPr>
                        <a:t>Accès BI et expérience</a:t>
                      </a:r>
                      <a:endParaRPr lang="en-US" sz="1300" dirty="0"/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Architecture BI centrée sur Power BI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8E"/>
                </a:solidFill>
              </a:rPr>
              <a:t>ARCHITECTURE POWER BI  |  MARKET RISK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8E"/>
                </a:solidFill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EDF4F3"/>
          </a:solidFill>
          <a:ln w="8890">
            <a:solidFill>
              <a:srgbClr val="D5E3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08760"/>
            <a:ext cx="68580" cy="3429000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7335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7F60"/>
                </a:solidFill>
              </a:rPr>
              <a:t>Avantages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502920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Mise en œuvre rapide pour un périmètre limité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Forte autonomie de l’équipe BI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Prototypage et évolution des KPI faciles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EDF4F3"/>
          </a:solidFill>
          <a:ln w="8890">
            <a:solidFill>
              <a:srgbClr val="D5E3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508760"/>
            <a:ext cx="68580" cy="3429000"/>
          </a:xfrm>
          <a:prstGeom prst="rect">
            <a:avLst/>
          </a:prstGeom>
          <a:solidFill>
            <a:srgbClr val="123E67"/>
          </a:solidFill>
          <a:ln w="12700">
            <a:solidFill>
              <a:srgbClr val="123E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7335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E67"/>
                </a:solidFill>
              </a:rPr>
              <a:t>Limites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502920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Transformations dispersées dans les PBIX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Rafraîchissements et volumes contraignants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Risque de logique métier dupliquée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Audit et réutilisation plus difficiles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349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F60"/>
                </a:solidFill>
              </a:rPr>
              <a:t>Pertinent : POC, périmètre restreint, sources simples.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Architecture Data + couche BI légère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8E"/>
                </a:solidFill>
              </a:rPr>
              <a:t>ARCHITECTURE POWER BI  |  MARKET RISK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8E"/>
                </a:solidFill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EDF4F3"/>
          </a:solidFill>
          <a:ln w="8890">
            <a:solidFill>
              <a:srgbClr val="D5E3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08760"/>
            <a:ext cx="68580" cy="3429000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7335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7F60"/>
                </a:solidFill>
              </a:rPr>
              <a:t>Avantages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502920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Données préparées et mutualisées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Historique, contrôles et lineage centralisés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Performance et passage à l’échelle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KPI cohérents entre rapports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EDF4F3"/>
          </a:solidFill>
          <a:ln w="8890">
            <a:solidFill>
              <a:srgbClr val="D5E3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508760"/>
            <a:ext cx="68580" cy="3429000"/>
          </a:xfrm>
          <a:prstGeom prst="rect">
            <a:avLst/>
          </a:prstGeom>
          <a:solidFill>
            <a:srgbClr val="123E67"/>
          </a:solidFill>
          <a:ln w="12700">
            <a:solidFill>
              <a:srgbClr val="123E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7335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E67"/>
                </a:solidFill>
              </a:rPr>
              <a:t>Limites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502920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Investissement initial plus important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Dépendance aux pipelines / équipes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Gouvernance et exploitation à organiser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Risque de sur-architecture pour un POC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3492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7F60"/>
                </a:solidFill>
              </a:rPr>
              <a:t>Pertinent : reporting critique, multi-sources, grands volumes, réutilisation.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Cas RiskPulse : arbitrer le niveau de détail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8E"/>
                </a:solidFill>
              </a:rPr>
              <a:t>ARCHITECTURE POWER BI  |  MARKET RISK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8E"/>
                </a:solidFill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EDF4F3"/>
          </a:solidFill>
          <a:ln w="8890">
            <a:solidFill>
              <a:srgbClr val="D5E3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08760"/>
            <a:ext cx="68580" cy="3566160"/>
          </a:xfrm>
          <a:prstGeom prst="rect">
            <a:avLst/>
          </a:prstGeom>
          <a:solidFill>
            <a:srgbClr val="123E67"/>
          </a:solidFill>
          <a:ln w="12700">
            <a:solidFill>
              <a:srgbClr val="123E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733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E67"/>
                </a:solidFill>
              </a:rPr>
              <a:t>Détail récent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32004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P&amp;L journalier par Book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Sensibilités détaillées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Fenêtre courte (ex. 7 jours)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Objectif : drilldown réactif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15087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EDF4F3"/>
          </a:solidFill>
          <a:ln w="8890">
            <a:solidFill>
              <a:srgbClr val="D5E3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508760"/>
            <a:ext cx="68580" cy="3566160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16733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7F60"/>
                </a:solidFill>
              </a:rPr>
              <a:t>Agrégats historiques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07992" y="2103120"/>
            <a:ext cx="32004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J / semaine / 20J glissants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Mois / semestre / année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Activity, Desk, Book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Objectif : tendances rapides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0144" y="15087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EDF4F3"/>
          </a:solidFill>
          <a:ln w="8890">
            <a:solidFill>
              <a:srgbClr val="D5E3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1508760"/>
            <a:ext cx="68580" cy="3566160"/>
          </a:xfrm>
          <a:prstGeom prst="rect">
            <a:avLst/>
          </a:prstGeom>
          <a:solidFill>
            <a:srgbClr val="123E67"/>
          </a:solidFill>
          <a:ln w="12700">
            <a:solidFill>
              <a:srgbClr val="123E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3024" y="16733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E67"/>
                </a:solidFill>
              </a:rPr>
              <a:t>Règles communes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93024" y="2103120"/>
            <a:ext cx="32004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Calendrier unique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Référentiel des books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Périmètres et dates de valeur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Objectif : chiffres réconciliables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Modélisation cible pour Power BI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8E"/>
                </a:solidFill>
              </a:rPr>
              <a:t>ARCHITECTURE POWER BI  |  MARKET RISK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8E"/>
                </a:solidFill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</a:rPr>
              <a:t>• Schéma en étoile : Fact_PnL, Fact_Risk, Dim_Date, Dim_Book, Dim_Desk, Dim_Activity.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</a:rPr>
              <a:t>• Grain explicite : une ligne par date × book × mesure (selon source).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</a:rPr>
              <a:t>• Dimensions conformes et hiérarchie Activity → Desk → Book.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</a:rPr>
              <a:t>• Mesures DAX : P&amp;L J, J−1, delta, rolling 20J ; éviter les calculs lourds ligne à ligne.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</a:rPr>
              <a:t>• Mode Import / agrégations par défaut ; DirectQuery ou modèle composite uniquement si besoin validé.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Performance, sécurité et conformité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8E"/>
                </a:solidFill>
              </a:rPr>
              <a:t>ARCHITECTURE POWER BI  |  MARKET RISK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8E"/>
                </a:solidFill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EDF4F3"/>
          </a:solidFill>
          <a:ln w="8890">
            <a:solidFill>
              <a:srgbClr val="D5E3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68580" cy="4114800"/>
          </a:xfrm>
          <a:prstGeom prst="rect">
            <a:avLst/>
          </a:prstGeom>
          <a:solidFill>
            <a:srgbClr val="123E67"/>
          </a:solidFill>
          <a:ln w="12700">
            <a:solidFill>
              <a:srgbClr val="123E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81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E67"/>
                </a:solidFill>
              </a:rPr>
              <a:t>Architecture Data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498348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Chargements incrémentaux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Contrôles de complétude et fraîcheur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Réconciliation source ↔ entrepôt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Historisation, lineage, traçabilité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Droits au niveau des jeux de données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EDF4F3"/>
          </a:solidFill>
          <a:ln w="8890">
            <a:solidFill>
              <a:srgbClr val="D5E3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417320"/>
            <a:ext cx="68580" cy="4114800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581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7F60"/>
                </a:solidFill>
              </a:rPr>
              <a:t>Architecture BI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011680"/>
            <a:ext cx="498348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Modèle compact et cardinalité maîtrisée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Mesures optimisées / Performance Analyzer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RLS/OLS et espaces de travail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Définitions KPI documentées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• Tests de cohérence des filtres / drilldown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742432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E67"/>
                </a:solidFill>
              </a:rPr>
              <a:t>BCBS 239 : principes de gouvernance, exactitude, intégrité, complétude et ponctualité — à décliner selon le périmètre réglementaire.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Grille d’aide à la décision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8E"/>
                </a:solidFill>
              </a:rPr>
              <a:t>ARCHITECTURE POWER BI  |  MARKET RISK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8E"/>
                </a:solidFill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480560"/>
        </p:xfrm>
        <a:graphic>
          <a:graphicData uri="http://schemas.openxmlformats.org/drawingml/2006/table">
            <a:tbl>
              <a:tblPr/>
              <a:tblGrid>
                <a:gridCol w="3931920"/>
                <a:gridCol w="3383280"/>
                <a:gridCol w="3566160"/>
              </a:tblGrid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Critère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BI principalement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Data + BI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Délai initial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Court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Plus long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Coût initial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Faible à modéré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Modéré à élevé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Volumes / sources hétérogènes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Limité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Plus adapté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Réutilisation multi-rapports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Moyenne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Élevée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Qualité / auditabilité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À renforcer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Structurable en amont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Autonomie métier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Forte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3040"/>
                          </a:solidFill>
                        </a:rPr>
                        <a:t>Forte si couche sémantique bien conçue</a:t>
                      </a:r>
                      <a:endParaRPr lang="en-US" sz="1400" dirty="0"/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Recommandation : architecture hybride gouvernée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8E"/>
                </a:solidFill>
              </a:rPr>
              <a:t>ARCHITECTURE POWER BI  |  MARKET RISK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8E"/>
                </a:solidFill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87F60"/>
                </a:solidFill>
              </a:rPr>
              <a:t>Une plateforme Data fiable + une couche sémantique Power BI orientée métier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EDF4F3"/>
          </a:solidFill>
          <a:ln w="8890">
            <a:solidFill>
              <a:srgbClr val="D5E3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68880"/>
            <a:ext cx="68580" cy="2377440"/>
          </a:xfrm>
          <a:prstGeom prst="rect">
            <a:avLst/>
          </a:prstGeom>
          <a:solidFill>
            <a:srgbClr val="123E67"/>
          </a:solidFill>
          <a:ln w="12700">
            <a:solidFill>
              <a:srgbClr val="123E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33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E67"/>
                </a:solidFill>
              </a:rPr>
              <a:t>Data Engineering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30632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Oracle / fichiers → pipelines contrôlés → tables préparées / agrégées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0832" y="246888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EDF4F3"/>
          </a:solidFill>
          <a:ln w="8890">
            <a:solidFill>
              <a:srgbClr val="D5E3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2468880"/>
            <a:ext cx="68580" cy="2377440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2633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7F60"/>
                </a:solidFill>
              </a:rPr>
              <a:t>Semantic Model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53712" y="3063240"/>
            <a:ext cx="30632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Étoile, dimensions, DAX centralisé, sécurité, calendrier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46888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EDF4F3"/>
          </a:solidFill>
          <a:ln w="8890">
            <a:solidFill>
              <a:srgbClr val="D5E3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468880"/>
            <a:ext cx="68580" cy="2377440"/>
          </a:xfrm>
          <a:prstGeom prst="rect">
            <a:avLst/>
          </a:prstGeom>
          <a:solidFill>
            <a:srgbClr val="123E67"/>
          </a:solidFill>
          <a:ln w="12700">
            <a:solidFill>
              <a:srgbClr val="123E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633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E67"/>
                </a:solidFill>
              </a:rPr>
              <a:t>Power BI UX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0" y="3063240"/>
            <a:ext cx="30632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3 s : vue management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30 s : analyse desk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</a:rPr>
              <a:t>300 s : détail book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E67"/>
                </a:solidFill>
              </a:rPr>
              <a:t>Commencer simple, industrialiser par paliers mesurés.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Feuille de route proposée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8E"/>
                </a:solidFill>
              </a:rPr>
              <a:t>ARCHITECTURE POWER BI  |  MARKET RISK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8E"/>
                </a:solidFill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</a:rPr>
              <a:t>• Phase 1 — Cadrage : KPI/KRI, grains, sources, SLA de fraîcheur, propriétaires.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</a:rPr>
              <a:t>• Phase 2 — Fondation : Dim_Date, référentiel Activity/Desk/Book, contrôles de qualité.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</a:rPr>
              <a:t>• Phase 3 — Optimisation : historique agrégé, détail récent, refresh incrémental, mesures validées.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</a:rPr>
              <a:t>• Phase 4 — Gouvernance : sécurité, lineage, documentation, tests de réconciliation.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</a:rPr>
              <a:t>• Phase 5 — Exploitation : temps de réponse, taux d’échec refresh, qualité et adoption.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60"/>
          </a:solidFill>
          <a:ln w="12700">
            <a:solidFill>
              <a:srgbClr val="087F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Décision attendue du management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8E"/>
                </a:solidFill>
              </a:rPr>
              <a:t>ARCHITECTURE POWER BI  |  MARKET RISK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8E"/>
                </a:solidFill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• Valider une cible hybride : Data fiable en amont, Power BI pour la sémantique et l’expérience.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• Nommer les responsables des sources, des définitions de KPI et du modèle BI.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• Arbitrer l’horizon de détail (ex. 7 jours) et les agrégations historiques.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• Définir les exigences de fraîcheur, sécurité, auditabilité et performance.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• Lancer un pilote sur Equity Solutions, puis étendre aux autres desks.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56235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7F60"/>
                </a:solidFill>
              </a:rPr>
              <a:t>Message clé : la BI explique le risque ; l’architecture Data garantit la confiance dans les chiffres.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décisionnelle vs architecture Data</dc:title>
  <dc:subject>Architecture BI et Data pour Power BI</dc:subject>
  <dc:creator>OpenAI</dc:creator>
  <cp:lastModifiedBy>OpenAI</cp:lastModifiedBy>
  <cp:revision>1</cp:revision>
  <dcterms:created xsi:type="dcterms:W3CDTF">2026-10-19T11:37:05Z</dcterms:created>
  <dcterms:modified xsi:type="dcterms:W3CDTF">2026-10-19T11:37:05Z</dcterms:modified>
</cp:coreProperties>
</file>
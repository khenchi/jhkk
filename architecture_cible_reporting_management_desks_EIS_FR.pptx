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VISION &amp; AMBITION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Une plateforme, deux expériences complémentaires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01  •  Architecture décisionnelle &amp; analyse opérationnelle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83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300" b="1">
                <a:solidFill>
                  <a:srgbClr val="005D9B"/>
                </a:solidFill>
                <a:latin typeface="Aptos"/>
              </a:defRPr>
            </a:pPr>
            <a:r>
              <a:t>Reporting management et analyse opérationnelle des desks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43200"/>
            <a:ext cx="5257800" cy="2194560"/>
          </a:xfrm>
          <a:prstGeom prst="roundRect">
            <a:avLst/>
          </a:prstGeom>
          <a:solidFill>
            <a:srgbClr val="EE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694E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Décider en 3 / 30 / 300 secondes</a:t>
            </a:r>
          </a:p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P&amp;L consolidé, tendances, alertes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743200"/>
            <a:ext cx="5257800" cy="2194560"/>
          </a:xfrm>
          <a:prstGeom prst="roundRect">
            <a:avLst/>
          </a:prstGeom>
          <a:solidFill>
            <a:srgbClr val="EE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30632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694E"/>
                </a:solidFill>
                <a:latin typeface="Aptos"/>
              </a:defRPr>
            </a:pPr>
            <a:r>
              <a:t>DESKS &amp; RISQUES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36576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Investiguer les anomalies</a:t>
            </a:r>
          </a:p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Books, Greeks, limites et positions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6235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5D9B"/>
                </a:solidFill>
                <a:latin typeface="Aptos"/>
              </a:defRPr>
            </a:pPr>
            <a:r>
              <a:t>Une seule vérité financière • Des interfaces adaptées à chaque métier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Power BI : puissant pour la BI, moins flexible pour une application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02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36295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65960"/>
            <a:ext cx="5212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Atouts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874519"/>
            <a:ext cx="554583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99048" y="1965960"/>
            <a:ext cx="539495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Aptos"/>
              </a:defRPr>
            </a:pPr>
            <a:r>
              <a:t>Limites à challenger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59736"/>
            <a:ext cx="536295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42032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Développement rapide des rapports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459736"/>
            <a:ext cx="554583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99048" y="2542032"/>
            <a:ext cx="53949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En-têtes complexes et tableaux façon Excel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44952"/>
            <a:ext cx="536295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127248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Modèle sémantique et DAX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044952"/>
            <a:ext cx="554583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9048" y="3127248"/>
            <a:ext cx="53949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Personnalisation visuelle variable selon les objets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30168"/>
            <a:ext cx="536295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712463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Sécurité, diffusion et gouvernance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3630168"/>
            <a:ext cx="554583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99048" y="3712463"/>
            <a:ext cx="53949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Interactions métiers très spécifiques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15383"/>
            <a:ext cx="536295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297679"/>
            <a:ext cx="5212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Exploration, hiérarchies et filtres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4215383"/>
            <a:ext cx="554583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9048" y="4297679"/>
            <a:ext cx="53949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0">
                <a:solidFill>
                  <a:srgbClr val="1E2D34"/>
                </a:solidFill>
                <a:latin typeface="Aptos"/>
              </a:defRPr>
            </a:pPr>
            <a:r>
              <a:t>Mise en page et formats cellulaires fins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6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5D9B"/>
                </a:solidFill>
                <a:latin typeface="Aptos"/>
              </a:defRPr>
            </a:pPr>
            <a:r>
              <a:t>Conclusion : ne pas confondre limites natives et difficultés de modélisation ou de configuration.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Quatre technologies, quatre compromis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03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985515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65960"/>
            <a:ext cx="283463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Critère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79" y="1874519"/>
            <a:ext cx="1933955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1965960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1874519"/>
            <a:ext cx="1933955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87568" y="1965960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Streamlit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543800" y="1874519"/>
            <a:ext cx="1933955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53527" y="1965960"/>
            <a:ext cx="1783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Dash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09760" y="1874519"/>
            <a:ext cx="2025395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19488" y="1965960"/>
            <a:ext cx="187451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React / 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459736"/>
            <a:ext cx="298551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4088" y="2542032"/>
            <a:ext cx="2834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Vitesse de mise en œuvre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11879" y="2459736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21607" y="2542032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Très forte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577840" y="2459736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87568" y="2542032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Très forte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543800" y="2459736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53527" y="2542032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Forte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509760" y="2459736"/>
            <a:ext cx="202539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19488" y="2542032"/>
            <a:ext cx="18745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Moyenne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3044952"/>
            <a:ext cx="298551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127248"/>
            <a:ext cx="2834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Liberté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11879" y="3044952"/>
            <a:ext cx="193395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721607" y="3127248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Moyenne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577840" y="3044952"/>
            <a:ext cx="193395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87568" y="3127248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Moyenne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543800" y="3044952"/>
            <a:ext cx="193395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53527" y="3127248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Forte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09760" y="3044952"/>
            <a:ext cx="202539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19488" y="3127248"/>
            <a:ext cx="18745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Très forte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3630168"/>
            <a:ext cx="298551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3712463"/>
            <a:ext cx="2834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Tableaux complexes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611879" y="3630168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721607" y="3712463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Moyenne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577840" y="3630168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687568" y="3712463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Forte*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543800" y="3630168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53527" y="3712463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Très forte*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509760" y="3630168"/>
            <a:ext cx="202539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19488" y="3712463"/>
            <a:ext cx="18745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Très forte*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4360" y="4215383"/>
            <a:ext cx="298551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" y="4297679"/>
            <a:ext cx="2834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Gouvernance BI native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611879" y="4215383"/>
            <a:ext cx="193395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721607" y="4297679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Très forte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77840" y="4215383"/>
            <a:ext cx="193395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87568" y="4297679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Limitée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43800" y="4215383"/>
            <a:ext cx="193395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53527" y="4297679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Limitée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509760" y="4215383"/>
            <a:ext cx="202539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19488" y="4297679"/>
            <a:ext cx="18745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Limitée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94360" y="4800600"/>
            <a:ext cx="298551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04088" y="4882896"/>
            <a:ext cx="283463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Maintenance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3611879" y="4800600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721607" y="488289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Faible–moy.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577840" y="4800600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687568" y="488289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Moyenne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543800" y="4800600"/>
            <a:ext cx="193395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53527" y="4882896"/>
            <a:ext cx="1783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Moy.–élevée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9509760" y="4800600"/>
            <a:ext cx="202539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619488" y="4882896"/>
            <a:ext cx="187451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200" b="0">
                <a:solidFill>
                  <a:srgbClr val="1E2D34"/>
                </a:solidFill>
                <a:latin typeface="Aptos"/>
              </a:defRPr>
            </a:pPr>
            <a:r>
              <a:t>Élevée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3152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97780"/>
                </a:solidFill>
                <a:latin typeface="Aptos"/>
              </a:defRPr>
            </a:pPr>
            <a:r>
              <a:t>* Dépend des composants de grille et des licences disponibles.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Architecture hybride : une fondation commune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04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43000" y="1691640"/>
            <a:ext cx="9875520" cy="713232"/>
          </a:xfrm>
          <a:prstGeom prst="roundRect">
            <a:avLst/>
          </a:prstGeom>
          <a:solidFill>
            <a:srgbClr val="EE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17647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94E"/>
                </a:solidFill>
                <a:latin typeface="Aptos"/>
              </a:defRPr>
            </a:pPr>
            <a:r>
              <a:t>SOURCES FINANCIÈRES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80136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P&amp;L · Positions · Greeks · Limites · Market Data · Référentiels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2606040"/>
            <a:ext cx="9875520" cy="713232"/>
          </a:xfrm>
          <a:prstGeom prst="roundRect">
            <a:avLst/>
          </a:prstGeom>
          <a:solidFill>
            <a:srgbClr val="EE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26791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94E"/>
                </a:solidFill>
                <a:latin typeface="Aptos"/>
              </a:defRPr>
            </a:pPr>
            <a:r>
              <a:t>INGESTION &amp; QUALITÉ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71576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Incrémental · Validation · Historisation · Traçabilité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3520440"/>
            <a:ext cx="9875520" cy="713232"/>
          </a:xfrm>
          <a:prstGeom prst="roundRect">
            <a:avLst/>
          </a:prstGeom>
          <a:solidFill>
            <a:srgbClr val="EE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3593592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694E"/>
                </a:solidFill>
                <a:latin typeface="Aptos"/>
              </a:defRPr>
            </a:pPr>
            <a:r>
              <a:t>SOCLE FINANCIER GOUVERNÉ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30168"/>
            <a:ext cx="6126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Warehouse SQL · Agrégats · Référentiels · KPI/KRI certifiés · Python ciblé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617720"/>
            <a:ext cx="4617720" cy="859536"/>
          </a:xfrm>
          <a:prstGeom prst="roundRect">
            <a:avLst/>
          </a:prstGeom>
          <a:solidFill>
            <a:srgbClr val="E4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754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5D9B"/>
                </a:solidFill>
                <a:latin typeface="Aptos"/>
              </a:defRPr>
            </a:pPr>
            <a:r>
              <a:t>POWER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5074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Reporting management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4617720"/>
            <a:ext cx="4617720" cy="859536"/>
          </a:xfrm>
          <a:prstGeom prst="roundRect">
            <a:avLst/>
          </a:prstGeom>
          <a:solidFill>
            <a:srgbClr val="E4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0" y="47548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5D9B"/>
                </a:solidFill>
                <a:latin typeface="Aptos"/>
              </a:defRPr>
            </a:pPr>
            <a:r>
              <a:t>DASH + AG GRID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507492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Investigation desk / risque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43000" y="58064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1E2D34"/>
                </a:solidFill>
                <a:latin typeface="Aptos"/>
              </a:defRPr>
            </a:pPr>
            <a:r>
              <a:t>Contrôles transverses : SSO · Habilitations · Audit · Monitoring · Réconciliation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Management : comprendre, diagnostiquer, investiguer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05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828800" cy="1097280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42415" y="1993391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3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18288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5D9B"/>
                </a:solidFill>
                <a:latin typeface="Aptos"/>
              </a:defRPr>
            </a:pPr>
            <a:r>
              <a:t>COMPRENDRE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24028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P&amp;L du jour, KPI/KRI, alertes et dépassements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154680"/>
            <a:ext cx="1828800" cy="1097280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42415" y="341071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30 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5D9B"/>
                </a:solidFill>
                <a:latin typeface="Aptos"/>
              </a:defRPr>
            </a:pPr>
            <a:r>
              <a:t>DIAGNOSTIQUER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Contributions par desk/book, variations, tendances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572000"/>
            <a:ext cx="1828800" cy="1097280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2415" y="4828032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t>300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46634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 b="1">
                <a:solidFill>
                  <a:srgbClr val="005D9B"/>
                </a:solidFill>
                <a:latin typeface="Aptos"/>
              </a:defRPr>
            </a:pPr>
            <a:r>
              <a:t>INVESTIGUER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26080" y="50749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Historique, causes, analyses et détail à la demande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Desk / Risk : une grille financière réellement interactive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06  •  Architecture décisionnelle &amp; analyse opérationnelle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Colonnes regroupées : P&amp;L | Greeks | Limites | Risques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Hiérarchie navigable : Activité → Desk → Book → 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Mise en forme conditionnelle multicritère et sous-totaux ciblés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95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Tri, recherche, filtres, colonnes figées et export contrôlé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1830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Historique, comparaisons de dates et détails à la demande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005D9B"/>
                </a:solidFill>
                <a:latin typeface="Aptos"/>
              </a:defRPr>
            </a:pPr>
            <a:r>
              <a:t>Candidat : Dash + AG Grid — vérifier les fonctionnalités Enterprise et le coût de licence.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Placer chaque calcul au bon niveau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07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563727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65960"/>
            <a:ext cx="54864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Traitement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874519"/>
            <a:ext cx="527151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65960"/>
            <a:ext cx="51206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Couche recommandée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59736"/>
            <a:ext cx="563727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42032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P&amp;L quotidien, consolidation desk/book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459736"/>
            <a:ext cx="52715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73368" y="2542032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SQL / Warehouse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44952"/>
            <a:ext cx="563727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127248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P&amp;L 20 jours ouvrés, MTD, YTD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044952"/>
            <a:ext cx="527151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73368" y="3127248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SQL ou couche sémantique gouvernée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30168"/>
            <a:ext cx="563727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712463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KPI/KRI et règles de limites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3630168"/>
            <a:ext cx="52715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73368" y="3712463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Définitions métier centralisées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15383"/>
            <a:ext cx="563727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297679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Pricing complexe, scénarios, simulations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63640" y="4215383"/>
            <a:ext cx="527151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73368" y="4297679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Python ou moteur financier dédié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800600"/>
            <a:ext cx="563727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882896"/>
            <a:ext cx="5486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Couleurs, formats, mise en page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4800600"/>
            <a:ext cx="52715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4882896"/>
            <a:ext cx="51206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Frontend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4243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005D9B"/>
                </a:solidFill>
                <a:latin typeface="Aptos"/>
              </a:defRPr>
            </a:pPr>
            <a:r>
              <a:t>Attention : 20 jours de trading ≠ 20 jours calendaires ; version et date de valorisation doivent être communes.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Performance : charger la bonne granularité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08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34543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65960"/>
            <a:ext cx="2194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Niveau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1874519"/>
            <a:ext cx="435711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1965960"/>
            <a:ext cx="4206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Données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60920" y="1874519"/>
            <a:ext cx="4174235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65960"/>
            <a:ext cx="4023359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 b="1">
                <a:solidFill>
                  <a:srgbClr val="FFFFFF"/>
                </a:solidFill>
                <a:latin typeface="Aptos"/>
              </a:defRPr>
            </a:pPr>
            <a:r>
              <a:t>Approche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59736"/>
            <a:ext cx="234543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4203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Management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71800" y="2459736"/>
            <a:ext cx="43571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81528" y="2542032"/>
            <a:ext cx="4206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KPIs consolidés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2459736"/>
            <a:ext cx="417423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70648" y="2542032"/>
            <a:ext cx="4023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Pré-agrégation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44952"/>
            <a:ext cx="234543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12724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Desk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71800" y="3044952"/>
            <a:ext cx="435711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081528" y="3127248"/>
            <a:ext cx="4206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P&amp;L / risque par desk-book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60920" y="3044952"/>
            <a:ext cx="417423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70648" y="3127248"/>
            <a:ext cx="4023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Tables agrégées quotidiennes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0168"/>
            <a:ext cx="234543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712463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Book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971800" y="3630168"/>
            <a:ext cx="43571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081528" y="3712463"/>
            <a:ext cx="4206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Historique et contributions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60920" y="3630168"/>
            <a:ext cx="4174235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70648" y="3712463"/>
            <a:ext cx="4023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Requêtes ciblées et cache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215383"/>
            <a:ext cx="234543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297679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Position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971800" y="4215383"/>
            <a:ext cx="435711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081528" y="4297679"/>
            <a:ext cx="4206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Détails opérationnels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60920" y="4215383"/>
            <a:ext cx="4174235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70648" y="4297679"/>
            <a:ext cx="402335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0">
                <a:solidFill>
                  <a:srgbClr val="1E2D34"/>
                </a:solidFill>
                <a:latin typeface="Aptos"/>
              </a:defRPr>
            </a:pPr>
            <a:r>
              <a:t>Pagination et chargement à la demande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5778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1">
                <a:solidFill>
                  <a:srgbClr val="005D9B"/>
                </a:solidFill>
                <a:latin typeface="Aptos"/>
              </a:defRPr>
            </a:pPr>
            <a:r>
              <a:t>Chargements incrémentaux • Partitionnement • Cache maîtrisé • Contrôles de fraîcheur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Gouvernance et principes BCBS 239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09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325983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65960"/>
            <a:ext cx="31089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Principe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86200" y="1874519"/>
            <a:ext cx="764895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95928" y="1965960"/>
            <a:ext cx="749808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Contrôle attendu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2459736"/>
            <a:ext cx="325983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" y="2542032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Exactitude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86200" y="2459736"/>
            <a:ext cx="764895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95928" y="2542032"/>
            <a:ext cx="7498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Réconciliation avec les systèmes sources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044952"/>
            <a:ext cx="325983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3127248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Exhaustivité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86200" y="3044952"/>
            <a:ext cx="764895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95928" y="3127248"/>
            <a:ext cx="7498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Couverture des desks, books et positions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630168"/>
            <a:ext cx="325983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712463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Actualité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86200" y="3630168"/>
            <a:ext cx="764895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95928" y="3712463"/>
            <a:ext cx="7498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Horodatage et seuils de fraîcheur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4215383"/>
            <a:ext cx="325983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4088" y="4297679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Traçabilité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886200" y="4215383"/>
            <a:ext cx="764895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95928" y="4297679"/>
            <a:ext cx="7498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Lineage, versions et historique des transformations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4800600"/>
            <a:ext cx="325983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4882896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Adaptabilité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886200" y="4800600"/>
            <a:ext cx="764895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95928" y="4882896"/>
            <a:ext cx="7498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Ajout maîtrisé de nouveaux indicateurs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5385816"/>
            <a:ext cx="325983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5468112"/>
            <a:ext cx="31089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Sécurité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886200" y="5385816"/>
            <a:ext cx="764895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95928" y="5468112"/>
            <a:ext cx="7498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Rôles, filtrage, accès et audit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080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005D9B"/>
                </a:solidFill>
                <a:latin typeface="Aptos"/>
              </a:defRPr>
            </a:pPr>
            <a:r>
              <a:t>L’alignement technique ne suffit pas à démontrer la conformité réglementaire.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Cinq arbitrages à trancher avant industrialisation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10  •  Architecture décisionnelle &amp; analyse opérationnelle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Ne pas remplacer Power BI sans mesurer les limites réelles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511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Ne pas imposer Python pour les agrégations SQL simples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7355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Réserver React / TypeScript aux besoins applicatifs justifiés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9592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Éviter de charger tout l’historique détaillé en mémoire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1830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0">
                <a:solidFill>
                  <a:srgbClr val="1E2D34"/>
                </a:solidFill>
                <a:latin typeface="Aptos"/>
              </a:defRPr>
            </a:pPr>
            <a:r>
              <a:t>• Garantir des chiffres identiques via règles communes et tests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ARCHITECTURE CIBLE  |  EQUITY SOLUTIONS / 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Feuille de route indicative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11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874519"/>
            <a:ext cx="225399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1965960"/>
            <a:ext cx="210312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Phase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0360" y="1874519"/>
            <a:ext cx="664311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965960"/>
            <a:ext cx="649224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Livrable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55480" y="1874519"/>
            <a:ext cx="1979676" cy="585216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65208" y="1965960"/>
            <a:ext cx="182880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FFFFFF"/>
                </a:solidFill>
                <a:latin typeface="Aptos"/>
              </a:defRPr>
            </a:pPr>
            <a:r>
              <a:t>Durée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459736"/>
            <a:ext cx="225399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542032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1 · Socle de données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880360" y="2459736"/>
            <a:ext cx="66431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0088" y="2542032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KPI/KRI certifiés, dimensions, qualité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555480" y="2459736"/>
            <a:ext cx="197967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65208" y="254203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2–3 sem.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" y="3044952"/>
            <a:ext cx="225399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127248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2 · Management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880360" y="3044952"/>
            <a:ext cx="664311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0088" y="3127248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Optimisation Power BI, parcours 3/30/300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480" y="3044952"/>
            <a:ext cx="197967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65208" y="312724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2–3 sem.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" y="3630168"/>
            <a:ext cx="225399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3712463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3 · Prototype Desk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360" y="3630168"/>
            <a:ext cx="66431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0088" y="3712463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Dash + AG Grid sur EIS Index Asia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55480" y="3630168"/>
            <a:ext cx="197967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65208" y="3712463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2–3 sem.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" y="4215383"/>
            <a:ext cx="225399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297679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4 · Intégration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880360" y="4215383"/>
            <a:ext cx="664311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0088" y="4297679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SSO, performances, audit, réconciliation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555480" y="4215383"/>
            <a:ext cx="1979676" cy="58521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65208" y="4297679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2–4 sem.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4360" y="4800600"/>
            <a:ext cx="225399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4088" y="4882896"/>
            <a:ext cx="210312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5 · Validation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880360" y="4800600"/>
            <a:ext cx="664311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0088" y="4882896"/>
            <a:ext cx="64922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Recette métier et préparation déploiement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55480" y="4800600"/>
            <a:ext cx="1979676" cy="585216"/>
          </a:xfrm>
          <a:prstGeom prst="roundRect">
            <a:avLst/>
          </a:prstGeom>
          <a:solidFill>
            <a:srgbClr val="F1F6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665208" y="4882896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1E2D34"/>
                </a:solidFill>
                <a:latin typeface="Aptos"/>
              </a:defRPr>
            </a:pPr>
            <a:r>
              <a:t>1–2 sem.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1520" y="57607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0">
                <a:solidFill>
                  <a:srgbClr val="697780"/>
                </a:solidFill>
                <a:latin typeface="Aptos"/>
              </a:defRPr>
            </a:pPr>
            <a:r>
              <a:t>Estimations dépendantes des accès, de la disponibilité des données et des validations IT.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0069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000" b="1">
                <a:solidFill>
                  <a:srgbClr val="00694E"/>
                </a:solidFill>
                <a:latin typeface="Aptos"/>
              </a:defRPr>
            </a:pPr>
            <a:r>
              <a:t>RECOMMANDATION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49808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900" b="1">
                <a:solidFill>
                  <a:srgbClr val="1E2D34"/>
                </a:solidFill>
                <a:latin typeface="Aptos"/>
              </a:defRPr>
            </a:pPr>
            <a:r>
              <a:t>Décision proposée : un POC ciblé et mesurable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6510528"/>
            <a:ext cx="11155680" cy="13716"/>
          </a:xfrm>
          <a:prstGeom prst="roundRect">
            <a:avLst/>
          </a:prstGeom>
          <a:solidFill>
            <a:srgbClr val="DCE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65392"/>
            <a:ext cx="10058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900" b="0">
                <a:solidFill>
                  <a:srgbClr val="697780"/>
                </a:solidFill>
                <a:latin typeface="Aptos"/>
              </a:defRPr>
            </a:pPr>
            <a:r>
              <a:t>12  •  Architecture décisionnelle &amp; analyse opérationnelle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737360"/>
            <a:ext cx="10698480" cy="1051560"/>
          </a:xfrm>
          <a:prstGeom prst="roundRect">
            <a:avLst/>
          </a:prstGeom>
          <a:solidFill>
            <a:srgbClr val="EEF5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38528"/>
            <a:ext cx="10149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100" b="1">
                <a:solidFill>
                  <a:srgbClr val="00694E"/>
                </a:solidFill>
                <a:latin typeface="Aptos"/>
              </a:defRPr>
            </a:pPr>
            <a:r>
              <a:t>Conserver Power BI pour le décisionnel ; évaluer Dash + AG Grid pour l’opérationnel.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1089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 b="1">
                <a:solidFill>
                  <a:srgbClr val="005D9B"/>
                </a:solidFill>
                <a:latin typeface="Aptos"/>
              </a:defRPr>
            </a:pPr>
            <a:r>
              <a:t>POC : EIS Index Asia — mêmes données, mêmes métriques, deux expériences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04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• Comparer la flexibilité des tableaux et interactions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6285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• Mesurer les temps de réponse sur des volumes réalistes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8523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• Réconcilier systématiquement les résultats financiers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600760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700" b="0">
                <a:solidFill>
                  <a:srgbClr val="1E2D34"/>
                </a:solidFill>
                <a:latin typeface="Aptos"/>
              </a:defRPr>
            </a:pPr>
            <a:r>
              <a:t>• Évaluer effort de développement, maintenance et licences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